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PROPOSAL   ·   JUNE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ASLC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Scrum Master Life Cycle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603504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204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AI delivery team is missing its manager.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GitHub Copilot   ·   Zero new tools   ·   Drop 3 folders into any repo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9893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989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5989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Maruthi B 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1463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41248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&amp; ready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3154680"/>
            <a:ext cx="237744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412480" y="4526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prompts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sprint event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32520" y="5303520"/>
            <a:ext cx="237744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phases in Scrum — and you are manually coordinating all of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2880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4942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49631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what's ready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27249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story before it enters the sprint and personally clarifies acceptance criteria on request.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828800"/>
            <a:ext cx="329184" cy="329184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24942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0288" y="249631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brief on sprint goals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0288" y="27249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each team through sprint objectives manually at the start of every cycle, repeating context by role.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1828800"/>
            <a:ext cx="329184" cy="329184"/>
          </a:xfrm>
          <a:prstGeom prst="ellipse">
            <a:avLst/>
          </a:prstGeom>
          <a:solidFill>
            <a:srgbClr val="1E7A6E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224942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30768" y="249631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when FE starts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30768" y="27249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on backend and design sign-off, then self-schedules UI work with no automated trigger.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3EA0A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8678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423367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assigned after planning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4622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stories only after planning wraps, creating a hand-off delay before any code is written.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0" y="33832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566160"/>
            <a:ext cx="329184" cy="329184"/>
          </a:xfrm>
          <a:prstGeom prst="ellipse">
            <a:avLst/>
          </a:prstGeom>
          <a:solidFill>
            <a:srgbClr val="6C8CD5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398678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— BACKEND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90288" y="423367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8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route it when dev is done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90288" y="44622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for dev completion manually and routes test cases once notified, story by story.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0" y="33832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0768" y="356616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398678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— FRONTEND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30768" y="423367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sprint impact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30768" y="44622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regression risk case-by-case and flags scope changes back to the team without a shared record.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 hours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sprint. Spent on coordination. Not on building.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ASLC — Agentic Scrum Master Life Cycle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Agile Scrum process flow — every phase ASLC touches.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2199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19072" y="2880360"/>
            <a:ext cx="2429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62041" y="242316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5A3E9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46089" y="2221992"/>
            <a:ext cx="402336" cy="402336"/>
          </a:xfrm>
          <a:prstGeom prst="ellipse">
            <a:avLst/>
          </a:prstGeom>
          <a:solidFill>
            <a:srgbClr val="5A3E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6089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07761" y="274320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32473" y="2880360"/>
            <a:ext cx="2429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75442" y="242316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9490" y="2221992"/>
            <a:ext cx="402336" cy="402336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949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1162" y="274320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5874" y="2880360"/>
            <a:ext cx="2429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88843" y="242316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E7A6E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72891" y="2221992"/>
            <a:ext cx="402336" cy="402336"/>
          </a:xfrm>
          <a:prstGeom prst="ellipse">
            <a:avLst/>
          </a:prstGeom>
          <a:solidFill>
            <a:srgbClr val="1E7A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2891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34563" y="274320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59275" y="2880360"/>
            <a:ext cx="2429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02245" y="242316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3E5C9A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6293" y="2221992"/>
            <a:ext cx="402336" cy="402336"/>
          </a:xfrm>
          <a:prstGeom prst="ellipse">
            <a:avLst/>
          </a:prstGeom>
          <a:solidFill>
            <a:srgbClr val="3E5C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6293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7965" y="274320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72677" y="2880360"/>
            <a:ext cx="2429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15646" y="242316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99694" y="222199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99694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61366" y="274320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86078" y="2880360"/>
            <a:ext cx="2429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029047" y="242316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9A3E5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413095" y="2221992"/>
            <a:ext cx="402336" cy="402336"/>
          </a:xfrm>
          <a:prstGeom prst="ellipse">
            <a:avLst/>
          </a:prstGeom>
          <a:solidFill>
            <a:srgbClr val="9A3E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3095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74767" y="274320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199479" y="2880360"/>
            <a:ext cx="2429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442448" y="242316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826496" y="2221992"/>
            <a:ext cx="402336" cy="402336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26496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488168" y="274320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1027664" y="3794760"/>
            <a:ext cx="0" cy="502920"/>
          </a:xfrm>
          <a:prstGeom prst="line">
            <a:avLst/>
          </a:prstGeom>
          <a:noFill/>
          <a:ln w="19050">
            <a:solidFill>
              <a:srgbClr val="5B6584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H="1">
            <a:off x="1133856" y="4297680"/>
            <a:ext cx="9893808" cy="0"/>
          </a:xfrm>
          <a:prstGeom prst="line">
            <a:avLst/>
          </a:prstGeom>
          <a:noFill/>
          <a:ln w="19050">
            <a:solidFill>
              <a:srgbClr val="5B658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133856" y="3794760"/>
            <a:ext cx="0" cy="502920"/>
          </a:xfrm>
          <a:prstGeom prst="line">
            <a:avLst/>
          </a:prstGeom>
          <a:noFill/>
          <a:ln w="19050">
            <a:solidFill>
              <a:srgbClr val="5B6584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4864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sprint cycle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ASLC — Agentic Scrum Master Life Cycle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ASLC Sits in the SDLC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life cycle, three coordinated layers — ASLC owns only one of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992728" y="16002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41A45"/>
          </a:solidFill>
          <a:ln/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67048" y="1709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67048" y="2112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Life Cycle — the phases (the “what”)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95848" y="2514600"/>
            <a:ext cx="0" cy="32004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2834640"/>
            <a:ext cx="5440680" cy="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2834640"/>
            <a:ext cx="0" cy="32004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49640" y="2834640"/>
            <a:ext cx="0" cy="32004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1546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 →  </a:t>
            </a:r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ASLC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doing the Scrum Master's work — process &amp; ceremonies (planning, standups, routing, reviews, retros).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31546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3EA0AE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7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 →  </a:t>
            </a:r>
            <a:pPr indent="0" marL="0">
              <a:buNone/>
            </a:pPr>
            <a:r>
              <a:rPr lang="en-US" sz="1800" b="1" dirty="0">
                <a:solidFill>
                  <a:srgbClr val="3EA0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ADLC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703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doing the Developer's work within those phases (writing code, building UI, running tests).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4572000"/>
            <a:ext cx="0" cy="292608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4572000"/>
            <a:ext cx="0" cy="292608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4864608"/>
            <a:ext cx="5440680" cy="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848" y="4864608"/>
            <a:ext cx="0" cy="27432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98168" y="5138928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118208" y="513892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→  CI/CD  —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pipeline both ADLC and ASLC agents trigger: build → test → deploy, PATCH/POST to ADO.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ASLC — Agentic Scrum Master Life Cycle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Sprint. One ASLC Agent.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ASLC agent is active the entire sprint &amp; is called for one task — then done.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48840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095244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041648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88052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34456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80860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827264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3668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720072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66476" y="1234440"/>
            <a:ext cx="94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1600200" cy="38404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91640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1691640"/>
            <a:ext cx="9464040" cy="38404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69164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Standups · Routing · Artifacts · Review · Retro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075688"/>
            <a:ext cx="1600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75688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Analyst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writing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48840" y="207568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5244" y="207568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207568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8052" y="207568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34456" y="207568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80860" y="207568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27264" y="207568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3668" y="207568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20072" y="207568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66476" y="207568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459736"/>
            <a:ext cx="1600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48840" y="2459736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95244" y="2459736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41648" y="2459736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8052" y="2459736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34456" y="2459736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80860" y="2459736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27264" y="2459736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3668" y="2459736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20072" y="2459736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66476" y="2459736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2843784"/>
            <a:ext cx="1600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2843784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components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48840" y="2843784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95244" y="2843784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41648" y="2843784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88052" y="2843784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34456" y="2843784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80860" y="2843784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27264" y="2843784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73668" y="2843784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20072" y="2843784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66476" y="2843784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3227832"/>
            <a:ext cx="1600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227832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— Backend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48840" y="3227832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95244" y="3227832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41648" y="3227832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88052" y="3227832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34456" y="3227832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80860" y="3227832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27264" y="3227832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3668" y="3227832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20072" y="3227832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66476" y="3227832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" y="3611880"/>
            <a:ext cx="1600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3611880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— Frontend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48840" y="3611880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95244" y="3611880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041648" y="3611880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988052" y="3611880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34456" y="3611880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80860" y="3611880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27264" y="3611880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73668" y="3611880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20072" y="3611880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666476" y="3611880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" y="3995928"/>
            <a:ext cx="1600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3995928"/>
            <a:ext cx="16002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148840" y="399592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95244" y="399592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41648" y="399592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88052" y="399592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34456" y="399592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80860" y="399592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27264" y="399592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73668" y="399592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20072" y="3995928"/>
            <a:ext cx="9464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666476" y="3995928"/>
            <a:ext cx="946404" cy="38404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76272" y="2121408"/>
            <a:ext cx="891540" cy="292608"/>
          </a:xfrm>
          <a:prstGeom prst="roundRect">
            <a:avLst>
              <a:gd name="adj" fmla="val 9375"/>
            </a:avLst>
          </a:prstGeom>
          <a:solidFill>
            <a:srgbClr val="3E5C9A"/>
          </a:solidFill>
          <a:ln/>
        </p:spPr>
      </p:sp>
      <p:sp>
        <p:nvSpPr>
          <p:cNvPr id="91" name="Text 89"/>
          <p:cNvSpPr/>
          <p:nvPr/>
        </p:nvSpPr>
        <p:spPr>
          <a:xfrm>
            <a:off x="2176272" y="2121408"/>
            <a:ext cx="89154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stories + ACs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961888" y="2505456"/>
            <a:ext cx="1837944" cy="292608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93" name="Text 91"/>
          <p:cNvSpPr/>
          <p:nvPr/>
        </p:nvSpPr>
        <p:spPr>
          <a:xfrm>
            <a:off x="5961888" y="2505456"/>
            <a:ext cx="183794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stories 1,2,3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961888" y="2889504"/>
            <a:ext cx="1837944" cy="292608"/>
          </a:xfrm>
          <a:prstGeom prst="roundRect">
            <a:avLst>
              <a:gd name="adj" fmla="val 9375"/>
            </a:avLst>
          </a:prstGeom>
          <a:solidFill>
            <a:srgbClr val="3EA0AE"/>
          </a:solidFill>
          <a:ln/>
        </p:spPr>
      </p:sp>
      <p:sp>
        <p:nvSpPr>
          <p:cNvPr id="95" name="Text 93"/>
          <p:cNvSpPr/>
          <p:nvPr/>
        </p:nvSpPr>
        <p:spPr>
          <a:xfrm>
            <a:off x="5961888" y="2889504"/>
            <a:ext cx="183794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UI stories 1 &amp; 2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7854696" y="3273552"/>
            <a:ext cx="891540" cy="292608"/>
          </a:xfrm>
          <a:prstGeom prst="roundRect">
            <a:avLst>
              <a:gd name="adj" fmla="val 9375"/>
            </a:avLst>
          </a:prstGeom>
          <a:solidFill>
            <a:srgbClr val="1E7A6E"/>
          </a:solidFill>
          <a:ln/>
        </p:spPr>
      </p:sp>
      <p:sp>
        <p:nvSpPr>
          <p:cNvPr id="97" name="Text 95"/>
          <p:cNvSpPr/>
          <p:nvPr/>
        </p:nvSpPr>
        <p:spPr>
          <a:xfrm>
            <a:off x="7854696" y="3273552"/>
            <a:ext cx="89154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backend stories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854696" y="3657600"/>
            <a:ext cx="891540" cy="292608"/>
          </a:xfrm>
          <a:prstGeom prst="roundRect">
            <a:avLst>
              <a:gd name="adj" fmla="val 9375"/>
            </a:avLst>
          </a:prstGeom>
          <a:solidFill>
            <a:srgbClr val="1E7A6E"/>
          </a:solidFill>
          <a:ln/>
        </p:spPr>
      </p:sp>
      <p:sp>
        <p:nvSpPr>
          <p:cNvPr id="99" name="Text 97"/>
          <p:cNvSpPr/>
          <p:nvPr/>
        </p:nvSpPr>
        <p:spPr>
          <a:xfrm>
            <a:off x="7854696" y="3657600"/>
            <a:ext cx="89154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frontend stories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8801100" y="3273552"/>
            <a:ext cx="891540" cy="292608"/>
          </a:xfrm>
          <a:prstGeom prst="roundRect">
            <a:avLst>
              <a:gd name="adj" fmla="val 9375"/>
            </a:avLst>
          </a:prstGeom>
          <a:solidFill>
            <a:srgbClr val="9A3E5C"/>
          </a:solidFill>
          <a:ln/>
        </p:spPr>
      </p:sp>
      <p:sp>
        <p:nvSpPr>
          <p:cNvPr id="101" name="Text 99"/>
          <p:cNvSpPr/>
          <p:nvPr/>
        </p:nvSpPr>
        <p:spPr>
          <a:xfrm>
            <a:off x="8801100" y="3273552"/>
            <a:ext cx="89154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defects from QA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9747504" y="2121408"/>
            <a:ext cx="891540" cy="292608"/>
          </a:xfrm>
          <a:prstGeom prst="roundRect">
            <a:avLst>
              <a:gd name="adj" fmla="val 9375"/>
            </a:avLst>
          </a:prstGeom>
          <a:solidFill>
            <a:srgbClr val="5A3E9A"/>
          </a:solidFill>
          <a:ln/>
        </p:spPr>
      </p:sp>
      <p:sp>
        <p:nvSpPr>
          <p:cNvPr id="103" name="Text 101"/>
          <p:cNvSpPr/>
          <p:nvPr/>
        </p:nvSpPr>
        <p:spPr>
          <a:xfrm>
            <a:off x="9747504" y="2121408"/>
            <a:ext cx="89154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input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176272" y="4041648"/>
            <a:ext cx="891540" cy="292608"/>
          </a:xfrm>
          <a:prstGeom prst="roundRect">
            <a:avLst>
              <a:gd name="adj" fmla="val 9375"/>
            </a:avLst>
          </a:prstGeom>
          <a:solidFill>
            <a:srgbClr val="E8A33D"/>
          </a:solidFill>
          <a:ln/>
        </p:spPr>
      </p:sp>
      <p:sp>
        <p:nvSpPr>
          <p:cNvPr id="105" name="Text 103"/>
          <p:cNvSpPr/>
          <p:nvPr/>
        </p:nvSpPr>
        <p:spPr>
          <a:xfrm>
            <a:off x="2176272" y="4041648"/>
            <a:ext cx="89154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increment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48640" y="456285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41A45"/>
          </a:solidFill>
          <a:ln/>
        </p:spPr>
      </p:sp>
      <p:sp>
        <p:nvSpPr>
          <p:cNvPr id="107" name="Text 105"/>
          <p:cNvSpPr/>
          <p:nvPr/>
        </p:nvSpPr>
        <p:spPr>
          <a:xfrm>
            <a:off x="822960" y="45628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ASLC Agent — Active the entire sprint.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ceremonies · routes every handoff · maintains sprint artifacts · never writes code</a:t>
            </a:r>
            <a:endParaRPr lang="en-US" sz="1250" dirty="0"/>
          </a:p>
        </p:txBody>
      </p:sp>
      <p:sp>
        <p:nvSpPr>
          <p:cNvPr id="108" name="Text 10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ASLC — Agentic Scrum Master Life Cycle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ASLC Agent Manages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ceremonies. Every artifact maintained automatically.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8308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2199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sdlc_tasks_template.md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178308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22199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514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refinement_template.md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0768" y="1783080"/>
            <a:ext cx="347472" cy="3474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4" name="Text 12"/>
          <p:cNvSpPr/>
          <p:nvPr/>
        </p:nvSpPr>
        <p:spPr>
          <a:xfrm>
            <a:off x="8430768" y="222199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30768" y="25146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standup_template.md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46120"/>
            <a:ext cx="347472" cy="347472"/>
          </a:xfrm>
          <a:prstGeom prst="ellipse">
            <a:avLst/>
          </a:prstGeom>
          <a:solidFill>
            <a:srgbClr val="3EA0AE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68503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397764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A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release_notes_template.md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0632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3246120"/>
            <a:ext cx="347472" cy="347472"/>
          </a:xfrm>
          <a:prstGeom prst="ellipse">
            <a:avLst/>
          </a:prstGeom>
          <a:solidFill>
            <a:srgbClr val="5A3E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368503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 Planning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0288" y="397764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estimation_template.md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0632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7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30768" y="3246120"/>
            <a:ext cx="347472" cy="347472"/>
          </a:xfrm>
          <a:prstGeom prst="ellipse">
            <a:avLst/>
          </a:prstGeom>
          <a:solidFill>
            <a:srgbClr val="1E7A6E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3685032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30768" y="397764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retrospective_template.md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6908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artifacts maintained after every response: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0383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  ·   Sprint Backlog   ·   Progress Snapshot   ·   Blockers   ·   Decisions   ·   Next Actions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ASLC — Agentic Scrum Master Life Cycle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Sprint — Start to Finish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DevOps + VS Code Copilot agent automation, end to end.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214884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88920" y="1325880"/>
            <a:ext cx="443484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60920" y="1325880"/>
            <a:ext cx="39319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/ OUTPUT 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10744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733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 clarify items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67335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items — rewrites descriptions + suggests ACs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0" y="167335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/workitems — update description + AC field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0744200" cy="65836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317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 Planning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story points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complexity — suggests points, flags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0" y="23317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/workitems — story points + risk tag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990088"/>
            <a:ext cx="10744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9008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SDLC tasks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99008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story, synthesises scope via GPT-4o, generates SDLC child 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29900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/iterations, POST/PATCH /workitems — create &amp; link child tasks, assign hours &amp; owners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10744200" cy="65836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4845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resolve blockers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648456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blocked tasks — generates standup summary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364845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/wiql · Teams webhook · PATCH state on resolved blockers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306824"/>
            <a:ext cx="10744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068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next cycle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430682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velocity — drafts report, creates next items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06640" y="430682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/reports · POST work items to next sprint backlog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965192"/>
            <a:ext cx="10744200" cy="658368"/>
          </a:xfrm>
          <a:prstGeom prst="rect">
            <a:avLst/>
          </a:prstGeom>
          <a:solidFill>
            <a:srgbClr val="EEF1FA"/>
          </a:solidFill>
          <a:ln w="6350">
            <a:solidFill>
              <a:srgbClr val="D7D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9651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
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at sprint close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496519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Done stories + linked PRs — GPT-4o drafts narrative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96519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/wiki/pages · Teams message · optional docx/email export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5733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VS Code Copilot Extension API  ·  Azure DevOps REST API (PAT auth)  ·  Azure OpenAI GPT-4o  ·  ADO Wiki API  ·  Microsoft Teams Webhook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ASLC — Agentic Scrum Master Life Cycle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overhead becomes agent overhead — engineers get their time back.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3A4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hours reclaimed per sprint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3A4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331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3246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ceremonies fully automated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3A4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331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246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tools — runs inside GitHub Copilot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3A4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331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280" y="3246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to deploy into any repo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09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handoffs to a standing orchestrator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 Product Owner, Business Analyst, developers, and QA each manually decide when to hand off work — and someone has to track it all. ASLC replaces that tracking with a single agent that is active for the whole sprint: it plans, routes, tests-gates, and reports, so the team spends its time building instead of coordinating.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ASLC — Agentic Scrum Master Life Cycle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scoped pilot before broader rollout.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 w="12700">
            <a:solidFill>
              <a:srgbClr val="3A4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Sprint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3 ASLC folders into one active repo and run it for a single sprint alongside the existing process.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 w="12700">
            <a:solidFill>
              <a:srgbClr val="3A4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945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2918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coordination hours reclaimed, ceremony artifact completeness, and team feedback against the current baseline.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 w="12700">
            <a:solidFill>
              <a:srgbClr val="3A4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945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&amp; Scale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pilot results with leadership and extend ASLC to additional teams and repos if the pilot meets the bar.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ASLC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Agentic Scrum Master Life Cycle  ·  Maruthi B 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2026-09-07T05:45:58Z</dcterms:created>
  <dcterms:modified xsi:type="dcterms:W3CDTF">2026-09-07T05:45:58Z</dcterms:modified>
</cp:coreProperties>
</file>